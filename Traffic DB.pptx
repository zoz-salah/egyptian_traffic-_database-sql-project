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94660"/>
  </p:normalViewPr>
  <p:slideViewPr>
    <p:cSldViewPr snapToGrid="0">
      <p:cViewPr>
        <p:scale>
          <a:sx n="150" d="100"/>
          <a:sy n="150" d="100"/>
        </p:scale>
        <p:origin x="252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9;p2"/>
          <p:cNvCxnSpPr/>
          <p:nvPr/>
        </p:nvCxnSpPr>
        <p:spPr>
          <a:xfrm>
            <a:off x="505800" y="54468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3" name="Google Shape;10;p2"/>
          <p:cNvCxnSpPr/>
          <p:nvPr/>
        </p:nvCxnSpPr>
        <p:spPr>
          <a:xfrm>
            <a:off x="2674800" y="289440"/>
            <a:ext cx="360" cy="25560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>
            <a:off x="6493680" y="289440"/>
            <a:ext cx="360" cy="25560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6" name="Google Shape;13;p2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13160" y="1224720"/>
            <a:ext cx="4689000" cy="2257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649480" y="768600"/>
            <a:ext cx="2781000" cy="3819600"/>
          </a:xfrm>
          <a:prstGeom prst="rect">
            <a:avLst/>
          </a:prstGeom>
          <a:noFill/>
          <a:ln w="9360">
            <a:solidFill>
              <a:schemeClr val="accent1"/>
            </a:solidFill>
            <a:round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0;p14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10" name="Google Shape;91;p14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08840" y="3208320"/>
            <a:ext cx="3614040" cy="75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713160" y="661680"/>
            <a:ext cx="9007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268240" y="661680"/>
            <a:ext cx="2781000" cy="38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03;p16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15" name="Google Shape;104;p16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13160" y="1689480"/>
            <a:ext cx="3593520" cy="74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567760" y="768600"/>
            <a:ext cx="2781000" cy="38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29;p21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19" name="Google Shape;130;p21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39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4" name="Google Shape;26;p4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25" name="Google Shape;27;p4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43;p33"/>
          <p:cNvCxnSpPr/>
          <p:nvPr/>
        </p:nvCxnSpPr>
        <p:spPr>
          <a:xfrm>
            <a:off x="505800" y="54468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27" name="Google Shape;244;p33"/>
          <p:cNvCxnSpPr/>
          <p:nvPr/>
        </p:nvCxnSpPr>
        <p:spPr>
          <a:xfrm>
            <a:off x="2674800" y="289440"/>
            <a:ext cx="360" cy="25560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28" name="Google Shape;245;p33"/>
          <p:cNvCxnSpPr/>
          <p:nvPr/>
        </p:nvCxnSpPr>
        <p:spPr>
          <a:xfrm>
            <a:off x="6493680" y="289440"/>
            <a:ext cx="360" cy="25560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29" name="Google Shape;246;p33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30" name="Google Shape;247;p33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349000" y="8078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Google Shape;250;p33"/>
          <p:cNvSpPr/>
          <p:nvPr/>
        </p:nvSpPr>
        <p:spPr>
          <a:xfrm>
            <a:off x="2346840" y="3779640"/>
            <a:ext cx="43880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  <a:hlinkClick r:id="rId3"/>
              </a:rPr>
              <a:t>Freepik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274;p39"/>
          <p:cNvCxnSpPr/>
          <p:nvPr/>
        </p:nvCxnSpPr>
        <p:spPr>
          <a:xfrm>
            <a:off x="505800" y="3633840"/>
            <a:ext cx="781956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34" name="Google Shape;275;p39"/>
          <p:cNvSpPr/>
          <p:nvPr/>
        </p:nvSpPr>
        <p:spPr>
          <a:xfrm>
            <a:off x="5649480" y="768600"/>
            <a:ext cx="2781000" cy="3819600"/>
          </a:xfrm>
          <a:prstGeom prst="round2SameRect">
            <a:avLst>
              <a:gd name="adj1" fmla="val 16667"/>
              <a:gd name="adj2" fmla="val 0"/>
            </a:avLst>
          </a:prstGeom>
          <a:blipFill rotWithShape="0">
            <a:blip r:embed="rId2"/>
            <a:srcRect/>
            <a:stretch/>
          </a:blip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14240" y="1228680"/>
            <a:ext cx="4686120" cy="22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EGYPTIAN TRAFFIC DATABASE </a:t>
            </a: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PROJECT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714240" y="3838680"/>
            <a:ext cx="4686120" cy="55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SQL system for Egyptian vehicles registration and violations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27C3-E025-0FA8-44EB-CED73C3B8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274;p39">
            <a:extLst>
              <a:ext uri="{FF2B5EF4-FFF2-40B4-BE49-F238E27FC236}">
                <a16:creationId xmlns:a16="http://schemas.microsoft.com/office/drawing/2014/main" id="{80336675-D5CC-1636-99B1-AA34294A21EE}"/>
              </a:ext>
            </a:extLst>
          </p:cNvPr>
          <p:cNvCxnSpPr/>
          <p:nvPr/>
        </p:nvCxnSpPr>
        <p:spPr>
          <a:xfrm>
            <a:off x="505800" y="4945597"/>
            <a:ext cx="781956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sp>
        <p:nvSpPr>
          <p:cNvPr id="35" name="PlaceHolder 1">
            <a:extLst>
              <a:ext uri="{FF2B5EF4-FFF2-40B4-BE49-F238E27FC236}">
                <a16:creationId xmlns:a16="http://schemas.microsoft.com/office/drawing/2014/main" id="{B2DAE5B9-F65D-B0A4-128F-C77A188A2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800" y="314550"/>
            <a:ext cx="4686120" cy="225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PROJECT MEMBERS: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>
            <a:extLst>
              <a:ext uri="{FF2B5EF4-FFF2-40B4-BE49-F238E27FC236}">
                <a16:creationId xmlns:a16="http://schemas.microsoft.com/office/drawing/2014/main" id="{850936A4-E79C-A13E-7919-481309ECB63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5800" y="2571750"/>
            <a:ext cx="8384466" cy="206176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rgbClr val="FFFFFF"/>
                </a:solidFill>
                <a:latin typeface="OpenSymbol"/>
              </a:rPr>
              <a:t>1-ZIAD SALAH ELAREF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2-ZIAD RADWAN 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BDELMONEM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3-ZIAD MOHAMED FATHY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rgbClr val="FFFFFF"/>
                </a:solidFill>
                <a:latin typeface="OpenSymbol"/>
              </a:rPr>
              <a:t>4-ZIAD WAEL HASSAN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5-MOHAMED OSAMA ABDELMONE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M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6-SALEM AHMED SALEM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rgbClr val="FFFFFF"/>
                </a:solidFill>
                <a:latin typeface="OpenSymbol"/>
              </a:rPr>
              <a:t>7-MOHAMED SHEHAB GAFAAR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310463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70081" y="455509"/>
            <a:ext cx="3590640" cy="7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Introduction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628066" y="1251211"/>
            <a:ext cx="359064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This project outlines a professional SQL database design for the Egyptian Traffic system, covering all requirements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tables,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erd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mapping, trigger, and constraints functions updates.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337;p44"/>
          <p:cNvSpPr/>
          <p:nvPr/>
        </p:nvSpPr>
        <p:spPr>
          <a:xfrm>
            <a:off x="5567760" y="768600"/>
            <a:ext cx="2781000" cy="381960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13B902-0FBE-1985-6F79-FF701AFF3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2" y="2059499"/>
            <a:ext cx="3268066" cy="2718361"/>
          </a:xfrm>
          <a:prstGeom prst="rect">
            <a:avLst/>
          </a:prstGeom>
        </p:spPr>
      </p:pic>
      <p:cxnSp>
        <p:nvCxnSpPr>
          <p:cNvPr id="4" name="Google Shape;274;p39">
            <a:extLst>
              <a:ext uri="{FF2B5EF4-FFF2-40B4-BE49-F238E27FC236}">
                <a16:creationId xmlns:a16="http://schemas.microsoft.com/office/drawing/2014/main" id="{F94D4662-49F1-AF03-D875-39A769E7D423}"/>
              </a:ext>
            </a:extLst>
          </p:cNvPr>
          <p:cNvCxnSpPr/>
          <p:nvPr/>
        </p:nvCxnSpPr>
        <p:spPr>
          <a:xfrm>
            <a:off x="628066" y="455509"/>
            <a:ext cx="781956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Viaoda Libre"/>
              </a:rPr>
              <a:t>System Overview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image6a070b1fcd64f" descr="image6a070b1fcd651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" name="Google Shape;274;p39">
            <a:extLst>
              <a:ext uri="{FF2B5EF4-FFF2-40B4-BE49-F238E27FC236}">
                <a16:creationId xmlns:a16="http://schemas.microsoft.com/office/drawing/2014/main" id="{3733F197-245C-2DCD-92C9-8573291FDA4E}"/>
              </a:ext>
            </a:extLst>
          </p:cNvPr>
          <p:cNvCxnSpPr>
            <a:cxnSpLocks/>
          </p:cNvCxnSpPr>
          <p:nvPr/>
        </p:nvCxnSpPr>
        <p:spPr>
          <a:xfrm>
            <a:off x="302521" y="498596"/>
            <a:ext cx="0" cy="3972868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504828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</a:rPr>
              <a:t>Objectives &amp; Scope: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914232" y="126198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The traffic center centralizes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traffic officer ,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owner,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licensing,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vehicle,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and violation data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Key deliverables: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reliable data model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, enforcement of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regulatory rules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</a:rPr>
              <a:t>, and integration points for enforcement and reporting systems.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image6a070b1fd72e3" descr="image6a070b1fd72e6"/>
          <p:cNvSpPr/>
          <p:nvPr/>
        </p:nvSpPr>
        <p:spPr>
          <a:xfrm>
            <a:off x="228600" y="344695"/>
            <a:ext cx="3867121" cy="4366142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</a:rPr>
              <a:t>Egyptian Plate Logic: Alphanumeric format, governorate start letters, specialized plates (Police, Heavy Trucks, Diplomatic)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Plates follow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3 letters / 4 numbers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; the first letter maps to a governorate (e.g., Cairo, Giza, Alexandria). The schema encodes a governorate lookup and validation rules.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hi-IN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ا ب ت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 .. = A B C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Specialized plates (Police, Heavy Trucks, Diplomatic) use dedicated type codes and constraints to ensure correct classification and access controls. (by color)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TRIGGER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723960" y="1314360"/>
            <a:ext cx="7705440" cy="316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Vehicles enforce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registration expiration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and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inspection due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dates with automated alerts and stat flags.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Violations are stateful records linked to vehicles and owners; repeat offenses trigger escalation</a:t>
            </a: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rules and license holds.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Use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data integrity constraints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and scheduled jobs to enforce renewals, inspections, </a:t>
            </a: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and penalty workflows.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483;p52"/>
          <p:cNvSpPr/>
          <p:nvPr/>
        </p:nvSpPr>
        <p:spPr>
          <a:xfrm>
            <a:off x="5268240" y="661680"/>
            <a:ext cx="2781000" cy="3819600"/>
          </a:xfrm>
          <a:prstGeom prst="round2SameRect">
            <a:avLst>
              <a:gd name="adj1" fmla="val 50000"/>
              <a:gd name="adj2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93200" y="1809720"/>
            <a:ext cx="36097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 dirty="0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Data Model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714240" y="-843840"/>
            <a:ext cx="904680" cy="384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dvent Pro"/>
                <a:ea typeface="Viaoda Libre"/>
              </a:rPr>
              <a:t>02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Google Shape;487;p52"/>
          <p:cNvCxnSpPr/>
          <p:nvPr/>
        </p:nvCxnSpPr>
        <p:spPr>
          <a:xfrm>
            <a:off x="493200" y="1506240"/>
            <a:ext cx="383040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  <p:cxnSp>
        <p:nvCxnSpPr>
          <p:cNvPr id="55" name="Google Shape;488;p52"/>
          <p:cNvCxnSpPr/>
          <p:nvPr/>
        </p:nvCxnSpPr>
        <p:spPr>
          <a:xfrm>
            <a:off x="493200" y="664560"/>
            <a:ext cx="3830400" cy="360"/>
          </a:xfrm>
          <a:prstGeom prst="straightConnector1">
            <a:avLst/>
          </a:prstGeom>
          <a:ln w="9525">
            <a:solidFill>
              <a:srgbClr val="E9E4C7"/>
            </a:solidFill>
            <a:round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</a:rPr>
              <a:t>Traffic Officers, Cars Car Owners, Violations: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</a:rPr>
              <a:t>primary/foreign key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WE Defined primary keys for each entity and use foreign keys for relationships: Owner-Car, Car-Inspection, Car-Violations, Officer-Violations.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dvent Pro"/>
              </a:rPr>
              <a:t>Include composite keys where needed (plate + governorate)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image6a070b1fe6930" descr="image6a070b1fe6933"/>
          <p:cNvSpPr/>
          <p:nvPr/>
        </p:nvSpPr>
        <p:spPr>
          <a:xfrm>
            <a:off x="4795813" y="370555"/>
            <a:ext cx="4017854" cy="4402389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</a:rPr>
              <a:t>Entity Relationship Diagram (ERD)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8E24E-6796-5A36-AE82-23F4E4708B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80" y="1105276"/>
            <a:ext cx="7722132" cy="36567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Relational Mapping/Schema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723960" y="1314360"/>
            <a:ext cx="7705440" cy="316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A658E-D691-D288-7440-0F7BF7A14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0" y="943200"/>
            <a:ext cx="8196800" cy="384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Conclusions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723960" y="1314360"/>
            <a:ext cx="7705440" cy="316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The proposed schema centralizes vehicle, owner, licensing, inspection, and violation data to support enforcement and reporting.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marL="457200" indent="-31428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Designed for scalability, regulatory compliance, and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operational integrity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dvent Pro"/>
                <a:ea typeface="Advent Pro"/>
              </a:rPr>
              <a:t> with clear extension points for analytics and integrations.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w to Host a Dinner Party by Slidesgo">
  <a:themeElements>
    <a:clrScheme name="Simple Light">
      <a:dk1>
        <a:srgbClr val="FFFFFC"/>
      </a:dk1>
      <a:lt1>
        <a:srgbClr val="0C1A27"/>
      </a:lt1>
      <a:dk2>
        <a:srgbClr val="000000"/>
      </a:dk2>
      <a:lt2>
        <a:srgbClr val="383E4A"/>
      </a:lt2>
      <a:accent1>
        <a:srgbClr val="C8C6BA"/>
      </a:accent1>
      <a:accent2>
        <a:srgbClr val="E9E4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356</Words>
  <Application>Microsoft Office PowerPoint</Application>
  <PresentationFormat>On-screen Show (16:9)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Advent Pro</vt:lpstr>
      <vt:lpstr>Arial</vt:lpstr>
      <vt:lpstr>Calibri</vt:lpstr>
      <vt:lpstr>OpenSymbol</vt:lpstr>
      <vt:lpstr>Symbol</vt:lpstr>
      <vt:lpstr>Viaoda Libre</vt:lpstr>
      <vt:lpstr>Wingdings</vt:lpstr>
      <vt:lpstr>How to Host a Dinner Party by Slidesgo</vt:lpstr>
      <vt:lpstr>EGYPTIAN TRAFFIC DATABASE PROJECT</vt:lpstr>
      <vt:lpstr>PROJECT MEMBERS:</vt:lpstr>
      <vt:lpstr>Introduction</vt:lpstr>
      <vt:lpstr>PowerPoint Presentation</vt:lpstr>
      <vt:lpstr>PowerPoint Presentation</vt:lpstr>
      <vt:lpstr>PowerPoint Presentation</vt:lpstr>
      <vt:lpstr>TRIGGER</vt:lpstr>
      <vt:lpstr>Data Model</vt:lpstr>
      <vt:lpstr>PowerPoint Presentation</vt:lpstr>
      <vt:lpstr>PowerPoint Presentation</vt:lpstr>
      <vt:lpstr>Relational Mapping/Schema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ziad salah</cp:lastModifiedBy>
  <cp:revision>2</cp:revision>
  <dcterms:modified xsi:type="dcterms:W3CDTF">2026-05-17T09:37:32Z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2026-05-15T12:01:35Z</dcterms:created>
  <dc:creator>Unknown Creator</dc:creator>
  <dc:description/>
  <dc:language>en-US</dc:language>
  <cp:lastModifiedBy>Unknown Creator</cp:lastModifiedBy>
  <dcterms:modified xsi:type="dcterms:W3CDTF">2026-05-15T12:01:35Z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